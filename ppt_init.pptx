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legraf Bold" charset="1" panose="00000800000000000000"/>
      <p:regular r:id="rId16"/>
    </p:embeddedFont>
    <p:embeddedFont>
      <p:font typeface="Telegraf" charset="1" panose="00000500000000000000"/>
      <p:regular r:id="rId17"/>
    </p:embeddedFont>
    <p:embeddedFont>
      <p:font typeface="Abril Fatface" charset="1" panose="02000503000000020003"/>
      <p:regular r:id="rId18"/>
    </p:embeddedFont>
    <p:embeddedFont>
      <p:font typeface="The Seaso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0431" y="8868232"/>
            <a:ext cx="1712713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806550" y="1897281"/>
            <a:ext cx="3009225" cy="6018450"/>
            <a:chOff x="0" y="0"/>
            <a:chExt cx="3331210" cy="6662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blipFill>
              <a:blip r:embed="rId2"/>
              <a:stretch>
                <a:fillRect l="-11707" t="0" r="-5495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815775" y="1897281"/>
            <a:ext cx="3009225" cy="601845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0"/>
                  </a:moveTo>
                  <a:lnTo>
                    <a:pt x="3175000" y="6350000"/>
                  </a:lnTo>
                  <a:cubicBezTo>
                    <a:pt x="1421498" y="6350000"/>
                    <a:pt x="0" y="4928502"/>
                    <a:pt x="0" y="3175000"/>
                  </a:cubicBezTo>
                  <a:cubicBezTo>
                    <a:pt x="0" y="1421498"/>
                    <a:pt x="1421498" y="0"/>
                    <a:pt x="31750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1678" y="6054861"/>
            <a:ext cx="2645524" cy="1043727"/>
            <a:chOff x="0" y="0"/>
            <a:chExt cx="3527366" cy="139163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527366" cy="1391636"/>
              <a:chOff x="0" y="0"/>
              <a:chExt cx="634712" cy="2504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4712" cy="250410"/>
              </a:xfrm>
              <a:custGeom>
                <a:avLst/>
                <a:gdLst/>
                <a:ahLst/>
                <a:cxnLst/>
                <a:rect r="r" b="b" t="t" l="l"/>
                <a:pathLst>
                  <a:path h="250410" w="634712">
                    <a:moveTo>
                      <a:pt x="125205" y="0"/>
                    </a:moveTo>
                    <a:lnTo>
                      <a:pt x="509507" y="0"/>
                    </a:lnTo>
                    <a:cubicBezTo>
                      <a:pt x="578656" y="0"/>
                      <a:pt x="634712" y="56056"/>
                      <a:pt x="634712" y="125205"/>
                    </a:cubicBezTo>
                    <a:lnTo>
                      <a:pt x="634712" y="125205"/>
                    </a:lnTo>
                    <a:cubicBezTo>
                      <a:pt x="634712" y="158412"/>
                      <a:pt x="621521" y="190258"/>
                      <a:pt x="598041" y="213738"/>
                    </a:cubicBezTo>
                    <a:cubicBezTo>
                      <a:pt x="574560" y="237219"/>
                      <a:pt x="542714" y="250410"/>
                      <a:pt x="509507" y="250410"/>
                    </a:cubicBezTo>
                    <a:lnTo>
                      <a:pt x="125205" y="250410"/>
                    </a:lnTo>
                    <a:cubicBezTo>
                      <a:pt x="91999" y="250410"/>
                      <a:pt x="60152" y="237219"/>
                      <a:pt x="36672" y="213738"/>
                    </a:cubicBezTo>
                    <a:cubicBezTo>
                      <a:pt x="13191" y="190258"/>
                      <a:pt x="0" y="158412"/>
                      <a:pt x="0" y="125205"/>
                    </a:cubicBezTo>
                    <a:lnTo>
                      <a:pt x="0" y="125205"/>
                    </a:lnTo>
                    <a:cubicBezTo>
                      <a:pt x="0" y="91999"/>
                      <a:pt x="13191" y="60152"/>
                      <a:pt x="36672" y="36672"/>
                    </a:cubicBezTo>
                    <a:cubicBezTo>
                      <a:pt x="60152" y="13191"/>
                      <a:pt x="91999" y="0"/>
                      <a:pt x="125205" y="0"/>
                    </a:cubicBezTo>
                    <a:close/>
                  </a:path>
                </a:pathLst>
              </a:custGeom>
              <a:solidFill>
                <a:srgbClr val="0038D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634712" cy="317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00113" y="438657"/>
              <a:ext cx="2927140" cy="447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91"/>
                </a:lnSpc>
                <a:spcBef>
                  <a:spcPct val="0"/>
                </a:spcBef>
              </a:pPr>
              <a:r>
                <a:rPr lang="en-US" b="true" sz="1922">
                  <a:solidFill>
                    <a:srgbClr val="F8F8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TEAM MEMBERS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7163" y="9096781"/>
            <a:ext cx="3117321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loop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6636" y="9096781"/>
            <a:ext cx="4064035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stratgen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06782" y="9096781"/>
            <a:ext cx="1406261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30761" y="9096781"/>
            <a:ext cx="1406261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2639" y="1927973"/>
            <a:ext cx="9687325" cy="144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0"/>
              </a:lnSpc>
            </a:pPr>
            <a:r>
              <a:rPr lang="en-US" sz="1084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STRAT</a:t>
            </a:r>
            <a:r>
              <a:rPr lang="en-US" sz="10840">
                <a:solidFill>
                  <a:srgbClr val="16003B"/>
                </a:solidFill>
                <a:latin typeface="Abril Fatface"/>
                <a:ea typeface="Abril Fatface"/>
                <a:cs typeface="Abril Fatface"/>
                <a:sym typeface="Abril Fatface"/>
              </a:rPr>
              <a:t>GEN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639" y="3610097"/>
            <a:ext cx="8543146" cy="131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1"/>
              </a:lnSpc>
            </a:pPr>
            <a:r>
              <a:rPr lang="en-US" sz="243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AI Coordinator for Football Teams</a:t>
            </a:r>
          </a:p>
          <a:p>
            <a:pPr algn="just">
              <a:lnSpc>
                <a:spcPts val="3411"/>
              </a:lnSpc>
            </a:pPr>
            <a:r>
              <a:rPr lang="en-US" sz="243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SportsTech · SaaS · Generative AI</a:t>
            </a:r>
          </a:p>
          <a:p>
            <a:pPr algn="just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Built For: Coaches, Academies, Clubs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2639" y="5195920"/>
            <a:ext cx="9233823" cy="46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Design winning set-pieces before the match starts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15067" y="6205245"/>
            <a:ext cx="8399233" cy="171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3"/>
              </a:lnSpc>
            </a:pPr>
            <a:r>
              <a:rPr lang="en-US" sz="23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SHIVANSH (TEAM LEADER)</a:t>
            </a:r>
          </a:p>
          <a:p>
            <a:pPr algn="just">
              <a:lnSpc>
                <a:spcPts val="3353"/>
              </a:lnSpc>
            </a:pPr>
            <a:r>
              <a:rPr lang="en-US" sz="23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RITIJ RAJ</a:t>
            </a:r>
          </a:p>
          <a:p>
            <a:pPr algn="just">
              <a:lnSpc>
                <a:spcPts val="3353"/>
              </a:lnSpc>
            </a:pPr>
            <a:r>
              <a:rPr lang="en-US" sz="23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PRIYANSHU </a:t>
            </a:r>
          </a:p>
          <a:p>
            <a:pPr algn="just">
              <a:lnSpc>
                <a:spcPts val="3353"/>
              </a:lnSpc>
              <a:spcBef>
                <a:spcPct val="0"/>
              </a:spcBef>
            </a:pPr>
            <a:r>
              <a:rPr lang="en-US" sz="239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VENU PRIYA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96273" y="2174659"/>
            <a:ext cx="3234595" cy="6469190"/>
            <a:chOff x="0" y="0"/>
            <a:chExt cx="3331210" cy="66624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blipFill>
              <a:blip r:embed="rId2"/>
              <a:stretch>
                <a:fillRect l="-41929" t="-8257" r="-26791" b="-993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61678" y="2174659"/>
            <a:ext cx="3234595" cy="6469190"/>
            <a:chOff x="0" y="0"/>
            <a:chExt cx="3331210" cy="66624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6599028" y="1973324"/>
            <a:ext cx="1320544" cy="818737"/>
          </a:xfrm>
          <a:custGeom>
            <a:avLst/>
            <a:gdLst/>
            <a:ahLst/>
            <a:cxnLst/>
            <a:rect r="r" b="b" t="t" l="l"/>
            <a:pathLst>
              <a:path h="818737" w="1320544">
                <a:moveTo>
                  <a:pt x="0" y="0"/>
                </a:moveTo>
                <a:lnTo>
                  <a:pt x="1320544" y="0"/>
                </a:lnTo>
                <a:lnTo>
                  <a:pt x="1320544" y="818738"/>
                </a:lnTo>
                <a:lnTo>
                  <a:pt x="0" y="818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7583244" y="9248775"/>
            <a:ext cx="1712713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782115">
            <a:off x="13759019" y="6390440"/>
            <a:ext cx="2559565" cy="2559565"/>
          </a:xfrm>
          <a:custGeom>
            <a:avLst/>
            <a:gdLst/>
            <a:ahLst/>
            <a:cxnLst/>
            <a:rect r="r" b="b" t="t" l="l"/>
            <a:pathLst>
              <a:path h="2559565" w="2559565">
                <a:moveTo>
                  <a:pt x="0" y="0"/>
                </a:moveTo>
                <a:lnTo>
                  <a:pt x="2559566" y="0"/>
                </a:lnTo>
                <a:lnTo>
                  <a:pt x="2559566" y="2559565"/>
                </a:lnTo>
                <a:lnTo>
                  <a:pt x="0" y="25595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77636" y="1947667"/>
            <a:ext cx="6636618" cy="9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6437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Market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77636" y="3160562"/>
            <a:ext cx="7640948" cy="336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Manual method :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Design tactics manually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Can’t simulate outcomes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Rely on intuition, not data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Other e</a:t>
            </a: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xisting tools :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Analyze past games</a:t>
            </a:r>
          </a:p>
          <a:p>
            <a:pPr algn="just" marL="906777" indent="-302259" lvl="2">
              <a:lnSpc>
                <a:spcPts val="2939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Do not generate new tactics</a:t>
            </a: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        </a:t>
            </a: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No SaaS exists that designs tactics automatically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495700" y="7995487"/>
            <a:ext cx="1949271" cy="4217315"/>
            <a:chOff x="0" y="0"/>
            <a:chExt cx="3942848" cy="85304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42847" cy="8530486"/>
            </a:xfrm>
            <a:custGeom>
              <a:avLst/>
              <a:gdLst/>
              <a:ahLst/>
              <a:cxnLst/>
              <a:rect r="r" b="b" t="t" l="l"/>
              <a:pathLst>
                <a:path h="8530486" w="3942847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2574301" y="6077905"/>
            <a:ext cx="1949271" cy="4217315"/>
            <a:chOff x="0" y="0"/>
            <a:chExt cx="3942848" cy="85304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42847" cy="8530486"/>
            </a:xfrm>
            <a:custGeom>
              <a:avLst/>
              <a:gdLst/>
              <a:ahLst/>
              <a:cxnLst/>
              <a:rect r="r" b="b" t="t" l="l"/>
              <a:pathLst>
                <a:path h="8530486" w="3942847">
                  <a:moveTo>
                    <a:pt x="0" y="4265243"/>
                  </a:moveTo>
                  <a:lnTo>
                    <a:pt x="0" y="0"/>
                  </a:lnTo>
                  <a:cubicBezTo>
                    <a:pt x="2178111" y="0"/>
                    <a:pt x="3942847" y="1909034"/>
                    <a:pt x="3942847" y="4265243"/>
                  </a:cubicBezTo>
                  <a:cubicBezTo>
                    <a:pt x="3942847" y="6621452"/>
                    <a:pt x="2178111" y="8530486"/>
                    <a:pt x="0" y="8530486"/>
                  </a:cubicBezTo>
                  <a:lnTo>
                    <a:pt x="0" y="4265243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sp>
        <p:nvSpPr>
          <p:cNvPr name="AutoShape 9" id="9"/>
          <p:cNvSpPr/>
          <p:nvPr/>
        </p:nvSpPr>
        <p:spPr>
          <a:xfrm>
            <a:off x="7583244" y="9248775"/>
            <a:ext cx="1712713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824356" y="1459779"/>
            <a:ext cx="3538728" cy="4114800"/>
          </a:xfrm>
          <a:custGeom>
            <a:avLst/>
            <a:gdLst/>
            <a:ahLst/>
            <a:cxnLst/>
            <a:rect r="r" b="b" t="t" l="l"/>
            <a:pathLst>
              <a:path h="4114800" w="3538728">
                <a:moveTo>
                  <a:pt x="0" y="0"/>
                </a:moveTo>
                <a:lnTo>
                  <a:pt x="3538728" y="0"/>
                </a:lnTo>
                <a:lnTo>
                  <a:pt x="35387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75075" y="1459779"/>
            <a:ext cx="5066128" cy="5392472"/>
          </a:xfrm>
          <a:custGeom>
            <a:avLst/>
            <a:gdLst/>
            <a:ahLst/>
            <a:cxnLst/>
            <a:rect r="r" b="b" t="t" l="l"/>
            <a:pathLst>
              <a:path h="5392472" w="5066128">
                <a:moveTo>
                  <a:pt x="0" y="0"/>
                </a:moveTo>
                <a:lnTo>
                  <a:pt x="5066128" y="0"/>
                </a:lnTo>
                <a:lnTo>
                  <a:pt x="5066128" y="5392472"/>
                </a:lnTo>
                <a:lnTo>
                  <a:pt x="0" y="5392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947" t="0" r="-4891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7017" y="2096634"/>
            <a:ext cx="11825815" cy="16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0"/>
              </a:lnSpc>
            </a:pPr>
            <a:r>
              <a:rPr lang="en-US" sz="1147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7017" y="3607161"/>
            <a:ext cx="7455377" cy="360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2"/>
              </a:lnSpc>
            </a:pPr>
            <a:r>
              <a:rPr lang="en-US" sz="323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 is StratGen?</a:t>
            </a:r>
          </a:p>
          <a:p>
            <a:pPr algn="just">
              <a:lnSpc>
                <a:spcPts val="3402"/>
              </a:lnSpc>
            </a:pPr>
            <a:r>
              <a:rPr lang="en-US" sz="243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StratGen is a cloud-based AI platform that:</a:t>
            </a:r>
          </a:p>
          <a:p>
            <a:pPr algn="just" marL="524652" indent="-262326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Takes a set-piece scenario</a:t>
            </a:r>
          </a:p>
          <a:p>
            <a:pPr algn="just" marL="524652" indent="-262326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Understands player positioning</a:t>
            </a:r>
          </a:p>
          <a:p>
            <a:pPr algn="just" marL="524652" indent="-262326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Generates optimized attacking tactics</a:t>
            </a:r>
          </a:p>
          <a:p>
            <a:pPr algn="just" marL="524652" indent="-262326" lvl="1">
              <a:lnSpc>
                <a:spcPts val="3402"/>
              </a:lnSpc>
              <a:buFont typeface="Arial"/>
              <a:buChar char="•"/>
            </a:pPr>
            <a:r>
              <a:rPr lang="en-US" sz="243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Visualizes improvements instantly</a:t>
            </a:r>
          </a:p>
          <a:p>
            <a:pPr algn="just">
              <a:lnSpc>
                <a:spcPts val="3402"/>
              </a:lnSpc>
            </a:pPr>
          </a:p>
          <a:p>
            <a:pPr algn="just">
              <a:lnSpc>
                <a:spcPts val="340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186780" y="6528401"/>
            <a:ext cx="6442718" cy="234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24"/>
              </a:lnSpc>
            </a:pPr>
            <a:r>
              <a:rPr lang="en-US" sz="24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SaaS MVP Features</a:t>
            </a: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Interactive pitch board, AI-generated attacking movements, Shot probability improvement score, Before vs After comparison, Save &amp; export tactics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54215"/>
            <a:ext cx="166255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08122" y="656428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6729" y="632249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34325" y="654215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OTHERS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2639" y="1647641"/>
            <a:ext cx="11577454" cy="215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5"/>
              </a:lnSpc>
            </a:pPr>
            <a:r>
              <a:rPr lang="en-US" sz="8105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the STRATGEN AI 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1678" y="4034386"/>
            <a:ext cx="12579210" cy="559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Player Relationships Modeling (GNN):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StratGen represents players as connected points on the pitch and uses a Graph Neural Network (GNN) to understand spacing, marking, and pressure between players.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Tactical Evaluation: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The GNN analyzes these relationships to estimate how likely a set-piece is to create a scoring opportunity.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Tactic Generation (CVAE):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 generative model (Conditional Variational Autoencoder) then adjusts attacking player positions to explore better tactical setups.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Validation Loop: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Each generated tactic is re-evaluated by the GNN to ensure it improves the scoring probability.</a:t>
            </a:r>
          </a:p>
          <a:p>
            <a:pPr algn="just">
              <a:lnSpc>
                <a:spcPts val="2939"/>
              </a:lnSpc>
            </a:pPr>
          </a:p>
          <a:p>
            <a:pPr algn="just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Output:</a:t>
            </a: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AI-generated player movements with a clear improvement metric for coaches.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14959078" y="2380911"/>
            <a:ext cx="1037240" cy="2074480"/>
            <a:chOff x="0" y="0"/>
            <a:chExt cx="3331210" cy="66624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-10800000">
            <a:off x="13940888" y="2380911"/>
            <a:ext cx="1037240" cy="2074480"/>
            <a:chOff x="0" y="0"/>
            <a:chExt cx="3331210" cy="66624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15996318" y="2380911"/>
            <a:ext cx="1037240" cy="2074480"/>
            <a:chOff x="0" y="0"/>
            <a:chExt cx="3331210" cy="66624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0328" y="1028700"/>
            <a:ext cx="15263519" cy="8585729"/>
          </a:xfrm>
          <a:custGeom>
            <a:avLst/>
            <a:gdLst/>
            <a:ahLst/>
            <a:cxnLst/>
            <a:rect r="r" b="b" t="t" l="l"/>
            <a:pathLst>
              <a:path h="8585729" w="15263519">
                <a:moveTo>
                  <a:pt x="0" y="0"/>
                </a:moveTo>
                <a:lnTo>
                  <a:pt x="15263519" y="0"/>
                </a:lnTo>
                <a:lnTo>
                  <a:pt x="15263519" y="8585729"/>
                </a:lnTo>
                <a:lnTo>
                  <a:pt x="0" y="8585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89838" y="752509"/>
            <a:ext cx="6869462" cy="2196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5"/>
              </a:lnSpc>
            </a:pPr>
            <a:r>
              <a:rPr lang="en-US" b="true" sz="810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AI CORE WORKING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397181"/>
            <a:ext cx="3103850" cy="3103850"/>
          </a:xfrm>
          <a:custGeom>
            <a:avLst/>
            <a:gdLst/>
            <a:ahLst/>
            <a:cxnLst/>
            <a:rect r="r" b="b" t="t" l="l"/>
            <a:pathLst>
              <a:path h="3103850" w="3103850">
                <a:moveTo>
                  <a:pt x="0" y="0"/>
                </a:moveTo>
                <a:lnTo>
                  <a:pt x="3103850" y="0"/>
                </a:lnTo>
                <a:lnTo>
                  <a:pt x="3103850" y="3103850"/>
                </a:lnTo>
                <a:lnTo>
                  <a:pt x="0" y="3103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845073"/>
            <a:ext cx="1728965" cy="1071959"/>
          </a:xfrm>
          <a:custGeom>
            <a:avLst/>
            <a:gdLst/>
            <a:ahLst/>
            <a:cxnLst/>
            <a:rect r="r" b="b" t="t" l="l"/>
            <a:pathLst>
              <a:path h="1071959" w="1728965">
                <a:moveTo>
                  <a:pt x="0" y="0"/>
                </a:moveTo>
                <a:lnTo>
                  <a:pt x="1728965" y="0"/>
                </a:lnTo>
                <a:lnTo>
                  <a:pt x="1728965" y="1071958"/>
                </a:lnTo>
                <a:lnTo>
                  <a:pt x="0" y="107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67" y="614022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49913" y="2136372"/>
            <a:ext cx="13979821" cy="7863649"/>
          </a:xfrm>
          <a:custGeom>
            <a:avLst/>
            <a:gdLst/>
            <a:ahLst/>
            <a:cxnLst/>
            <a:rect r="r" b="b" t="t" l="l"/>
            <a:pathLst>
              <a:path h="7863649" w="13979821">
                <a:moveTo>
                  <a:pt x="0" y="0"/>
                </a:moveTo>
                <a:lnTo>
                  <a:pt x="13979820" y="0"/>
                </a:lnTo>
                <a:lnTo>
                  <a:pt x="13979820" y="7863649"/>
                </a:lnTo>
                <a:lnTo>
                  <a:pt x="0" y="7863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1244" y="510078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4865" y="624378"/>
            <a:ext cx="5220230" cy="167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59"/>
              </a:lnSpc>
            </a:pPr>
            <a:r>
              <a:rPr lang="en-US" b="true" sz="615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WORKING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96992" y="1840234"/>
            <a:ext cx="3103850" cy="3103850"/>
          </a:xfrm>
          <a:custGeom>
            <a:avLst/>
            <a:gdLst/>
            <a:ahLst/>
            <a:cxnLst/>
            <a:rect r="r" b="b" t="t" l="l"/>
            <a:pathLst>
              <a:path h="3103850" w="3103850">
                <a:moveTo>
                  <a:pt x="0" y="0"/>
                </a:moveTo>
                <a:lnTo>
                  <a:pt x="3103850" y="0"/>
                </a:lnTo>
                <a:lnTo>
                  <a:pt x="3103850" y="3103850"/>
                </a:lnTo>
                <a:lnTo>
                  <a:pt x="0" y="3103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49791" y="900725"/>
            <a:ext cx="1728965" cy="1071959"/>
          </a:xfrm>
          <a:custGeom>
            <a:avLst/>
            <a:gdLst/>
            <a:ahLst/>
            <a:cxnLst/>
            <a:rect r="r" b="b" t="t" l="l"/>
            <a:pathLst>
              <a:path h="1071959" w="1728965">
                <a:moveTo>
                  <a:pt x="0" y="0"/>
                </a:moveTo>
                <a:lnTo>
                  <a:pt x="1728965" y="0"/>
                </a:lnTo>
                <a:lnTo>
                  <a:pt x="1728965" y="1071958"/>
                </a:lnTo>
                <a:lnTo>
                  <a:pt x="0" y="107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0528" y="1305872"/>
            <a:ext cx="3999281" cy="3999281"/>
          </a:xfrm>
          <a:custGeom>
            <a:avLst/>
            <a:gdLst/>
            <a:ahLst/>
            <a:cxnLst/>
            <a:rect r="r" b="b" t="t" l="l"/>
            <a:pathLst>
              <a:path h="3999281" w="3999281">
                <a:moveTo>
                  <a:pt x="0" y="0"/>
                </a:moveTo>
                <a:lnTo>
                  <a:pt x="3999282" y="0"/>
                </a:lnTo>
                <a:lnTo>
                  <a:pt x="3999282" y="3999281"/>
                </a:lnTo>
                <a:lnTo>
                  <a:pt x="0" y="3999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5055315" y="1358554"/>
            <a:ext cx="1412173" cy="2824347"/>
            <a:chOff x="0" y="0"/>
            <a:chExt cx="3331210" cy="6662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15055315" y="151180"/>
            <a:ext cx="1412173" cy="2824347"/>
            <a:chOff x="0" y="0"/>
            <a:chExt cx="3331210" cy="66624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72918" y="2515967"/>
            <a:ext cx="1222161" cy="1222161"/>
          </a:xfrm>
          <a:custGeom>
            <a:avLst/>
            <a:gdLst/>
            <a:ahLst/>
            <a:cxnLst/>
            <a:rect r="r" b="b" t="t" l="l"/>
            <a:pathLst>
              <a:path h="1222161" w="1222161">
                <a:moveTo>
                  <a:pt x="0" y="0"/>
                </a:moveTo>
                <a:lnTo>
                  <a:pt x="1222161" y="0"/>
                </a:lnTo>
                <a:lnTo>
                  <a:pt x="1222161" y="1222161"/>
                </a:lnTo>
                <a:lnTo>
                  <a:pt x="0" y="1222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15866" y="3673188"/>
            <a:ext cx="1519985" cy="1519985"/>
          </a:xfrm>
          <a:custGeom>
            <a:avLst/>
            <a:gdLst/>
            <a:ahLst/>
            <a:cxnLst/>
            <a:rect r="r" b="b" t="t" l="l"/>
            <a:pathLst>
              <a:path h="1519985" w="1519985">
                <a:moveTo>
                  <a:pt x="0" y="0"/>
                </a:moveTo>
                <a:lnTo>
                  <a:pt x="1519985" y="0"/>
                </a:lnTo>
                <a:lnTo>
                  <a:pt x="1519985" y="1519985"/>
                </a:lnTo>
                <a:lnTo>
                  <a:pt x="0" y="15199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46698" y="4975842"/>
            <a:ext cx="1342900" cy="1342900"/>
          </a:xfrm>
          <a:custGeom>
            <a:avLst/>
            <a:gdLst/>
            <a:ahLst/>
            <a:cxnLst/>
            <a:rect r="r" b="b" t="t" l="l"/>
            <a:pathLst>
              <a:path h="1342900" w="1342900">
                <a:moveTo>
                  <a:pt x="0" y="0"/>
                </a:moveTo>
                <a:lnTo>
                  <a:pt x="1342901" y="0"/>
                </a:lnTo>
                <a:lnTo>
                  <a:pt x="1342901" y="1342900"/>
                </a:lnTo>
                <a:lnTo>
                  <a:pt x="0" y="1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56639" y="2515967"/>
            <a:ext cx="1516126" cy="1516126"/>
          </a:xfrm>
          <a:custGeom>
            <a:avLst/>
            <a:gdLst/>
            <a:ahLst/>
            <a:cxnLst/>
            <a:rect r="r" b="b" t="t" l="l"/>
            <a:pathLst>
              <a:path h="1516126" w="1516126">
                <a:moveTo>
                  <a:pt x="0" y="0"/>
                </a:moveTo>
                <a:lnTo>
                  <a:pt x="1516126" y="0"/>
                </a:lnTo>
                <a:lnTo>
                  <a:pt x="1516126" y="1516125"/>
                </a:lnTo>
                <a:lnTo>
                  <a:pt x="0" y="1516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6312" y="6372380"/>
            <a:ext cx="1214112" cy="1214112"/>
          </a:xfrm>
          <a:custGeom>
            <a:avLst/>
            <a:gdLst/>
            <a:ahLst/>
            <a:cxnLst/>
            <a:rect r="r" b="b" t="t" l="l"/>
            <a:pathLst>
              <a:path h="1214112" w="1214112">
                <a:moveTo>
                  <a:pt x="0" y="0"/>
                </a:moveTo>
                <a:lnTo>
                  <a:pt x="1214111" y="0"/>
                </a:lnTo>
                <a:lnTo>
                  <a:pt x="1214111" y="1214112"/>
                </a:lnTo>
                <a:lnTo>
                  <a:pt x="0" y="12141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906366" y="5868772"/>
            <a:ext cx="1222161" cy="1222161"/>
          </a:xfrm>
          <a:custGeom>
            <a:avLst/>
            <a:gdLst/>
            <a:ahLst/>
            <a:cxnLst/>
            <a:rect r="r" b="b" t="t" l="l"/>
            <a:pathLst>
              <a:path h="1222161" w="1222161">
                <a:moveTo>
                  <a:pt x="0" y="0"/>
                </a:moveTo>
                <a:lnTo>
                  <a:pt x="1222161" y="0"/>
                </a:lnTo>
                <a:lnTo>
                  <a:pt x="1222161" y="1222161"/>
                </a:lnTo>
                <a:lnTo>
                  <a:pt x="0" y="12221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73103" y="4590266"/>
            <a:ext cx="1278506" cy="1278506"/>
          </a:xfrm>
          <a:custGeom>
            <a:avLst/>
            <a:gdLst/>
            <a:ahLst/>
            <a:cxnLst/>
            <a:rect r="r" b="b" t="t" l="l"/>
            <a:pathLst>
              <a:path h="1278506" w="1278506">
                <a:moveTo>
                  <a:pt x="0" y="0"/>
                </a:moveTo>
                <a:lnTo>
                  <a:pt x="1278506" y="0"/>
                </a:lnTo>
                <a:lnTo>
                  <a:pt x="1278506" y="1278506"/>
                </a:lnTo>
                <a:lnTo>
                  <a:pt x="0" y="12785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14792" y="3673188"/>
            <a:ext cx="1302654" cy="1302654"/>
          </a:xfrm>
          <a:custGeom>
            <a:avLst/>
            <a:gdLst/>
            <a:ahLst/>
            <a:cxnLst/>
            <a:rect r="r" b="b" t="t" l="l"/>
            <a:pathLst>
              <a:path h="1302654" w="1302654">
                <a:moveTo>
                  <a:pt x="0" y="0"/>
                </a:moveTo>
                <a:lnTo>
                  <a:pt x="1302654" y="0"/>
                </a:lnTo>
                <a:lnTo>
                  <a:pt x="1302654" y="1302654"/>
                </a:lnTo>
                <a:lnTo>
                  <a:pt x="0" y="13026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44811" y="7325502"/>
            <a:ext cx="1238260" cy="1238260"/>
          </a:xfrm>
          <a:custGeom>
            <a:avLst/>
            <a:gdLst/>
            <a:ahLst/>
            <a:cxnLst/>
            <a:rect r="r" b="b" t="t" l="l"/>
            <a:pathLst>
              <a:path h="1238260" w="1238260">
                <a:moveTo>
                  <a:pt x="0" y="0"/>
                </a:moveTo>
                <a:lnTo>
                  <a:pt x="1238260" y="0"/>
                </a:lnTo>
                <a:lnTo>
                  <a:pt x="1238260" y="1238260"/>
                </a:lnTo>
                <a:lnTo>
                  <a:pt x="0" y="1238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761050" y="5457536"/>
            <a:ext cx="1179038" cy="1179038"/>
          </a:xfrm>
          <a:custGeom>
            <a:avLst/>
            <a:gdLst/>
            <a:ahLst/>
            <a:cxnLst/>
            <a:rect r="r" b="b" t="t" l="l"/>
            <a:pathLst>
              <a:path h="1179038" w="1179038">
                <a:moveTo>
                  <a:pt x="0" y="0"/>
                </a:moveTo>
                <a:lnTo>
                  <a:pt x="1179038" y="0"/>
                </a:lnTo>
                <a:lnTo>
                  <a:pt x="1179038" y="1179038"/>
                </a:lnTo>
                <a:lnTo>
                  <a:pt x="0" y="11790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72918" y="7586492"/>
            <a:ext cx="1428651" cy="1428651"/>
          </a:xfrm>
          <a:custGeom>
            <a:avLst/>
            <a:gdLst/>
            <a:ahLst/>
            <a:cxnLst/>
            <a:rect r="r" b="b" t="t" l="l"/>
            <a:pathLst>
              <a:path h="1428651" w="1428651">
                <a:moveTo>
                  <a:pt x="0" y="0"/>
                </a:moveTo>
                <a:lnTo>
                  <a:pt x="1428651" y="0"/>
                </a:lnTo>
                <a:lnTo>
                  <a:pt x="1428651" y="1428651"/>
                </a:lnTo>
                <a:lnTo>
                  <a:pt x="0" y="14286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85313" y="7231911"/>
            <a:ext cx="1873987" cy="1873987"/>
          </a:xfrm>
          <a:custGeom>
            <a:avLst/>
            <a:gdLst/>
            <a:ahLst/>
            <a:cxnLst/>
            <a:rect r="r" b="b" t="t" l="l"/>
            <a:pathLst>
              <a:path h="1873987" w="1873987">
                <a:moveTo>
                  <a:pt x="0" y="0"/>
                </a:moveTo>
                <a:lnTo>
                  <a:pt x="1873987" y="0"/>
                </a:lnTo>
                <a:lnTo>
                  <a:pt x="1873987" y="1873987"/>
                </a:lnTo>
                <a:lnTo>
                  <a:pt x="0" y="1873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56449" y="507965"/>
            <a:ext cx="9387300" cy="136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2"/>
              </a:lnSpc>
            </a:pPr>
            <a:r>
              <a:rPr lang="en-US" sz="9642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 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2639" y="6388941"/>
            <a:ext cx="4421246" cy="336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StratGen is a SaaS-based AI coaching platform that uses graph neural networks and generative models to analyze set-piece situations and automatically design optimized attacking tactics, helping coaches improve scoring chances through data-driven decision making.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0528" y="5613502"/>
            <a:ext cx="4720660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 STACK SUMMARY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51651" y="3793985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PYTORCH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43512" y="5219428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PYTHON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82355" y="3793985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STREAMLIT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74019" y="5067045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FASTAPI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29550" y="5827997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POSTRES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80009" y="8848759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DOCKER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47049" y="7214758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PANDAS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50099" y="6398466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MATPLOTLIB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46698" y="8696357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NEXT.JS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50008" y="7759364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JAVASCRIPT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18222" y="6693724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54896" y="8887982"/>
            <a:ext cx="3264694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AWS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304" y="3467794"/>
            <a:ext cx="4421246" cy="373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StratGen is technically feasible using existing open football tracking datasets and mature AI frameworks such as graph neural networks and generative models. The system can be developed as a modular pipeline and deployed on standard cloud infrastructure, making it achievable within current technical and computational limits.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8257" y="1546007"/>
            <a:ext cx="13400046" cy="114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5"/>
              </a:lnSpc>
            </a:pPr>
            <a:r>
              <a:rPr lang="en-US" sz="8105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Feasibility &amp; Viability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8257" y="2870379"/>
            <a:ext cx="3600212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Feasibility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5304" y="8020744"/>
            <a:ext cx="10092932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sports analytics market is rapidly adopting AI-driven decision tools, yet most existing solutions focus on post-match analysis rather than tactical generation. StratGen fills this gap by offering a unique generative approach, giving it strong differentiation and growth potential.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8257" y="7462579"/>
            <a:ext cx="5525824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Market Viability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86990" y="3521828"/>
            <a:ext cx="4421246" cy="373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StratGen addresses a real and high-value problem in football coaching—set-piece optimization—where teams are already willing to invest in analytics tools. A subscription-based SaaS model provides predictable recurring revenue and allows easy expansion from academies to professional clubs.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41128" y="2870379"/>
            <a:ext cx="3068959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Business Viability</a:t>
            </a:r>
          </a:p>
        </p:txBody>
      </p:sp>
      <p:grpSp>
        <p:nvGrpSpPr>
          <p:cNvPr name="Group 13" id="13"/>
          <p:cNvGrpSpPr/>
          <p:nvPr/>
        </p:nvGrpSpPr>
        <p:grpSpPr>
          <a:xfrm rot="-5400000">
            <a:off x="14640770" y="5905796"/>
            <a:ext cx="3012085" cy="6024170"/>
            <a:chOff x="0" y="0"/>
            <a:chExt cx="3331210" cy="6662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14640770" y="2893711"/>
            <a:ext cx="3012085" cy="6024170"/>
            <a:chOff x="0" y="0"/>
            <a:chExt cx="3331210" cy="66624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5643611" y="2097252"/>
            <a:ext cx="1615689" cy="1001727"/>
          </a:xfrm>
          <a:custGeom>
            <a:avLst/>
            <a:gdLst/>
            <a:ahLst/>
            <a:cxnLst/>
            <a:rect r="r" b="b" t="t" l="l"/>
            <a:pathLst>
              <a:path h="1001727" w="1615689">
                <a:moveTo>
                  <a:pt x="0" y="0"/>
                </a:moveTo>
                <a:lnTo>
                  <a:pt x="1615689" y="0"/>
                </a:lnTo>
                <a:lnTo>
                  <a:pt x="1615689" y="1001727"/>
                </a:lnTo>
                <a:lnTo>
                  <a:pt x="0" y="1001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304" y="4268926"/>
            <a:ext cx="4421246" cy="373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Initial Market: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Football academies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College teams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Semi-professional clubs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Independent coaches</a:t>
            </a:r>
          </a:p>
          <a:p>
            <a:pPr algn="just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Future: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Professional clubs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Sports analytics firms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Broadcasters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78257" y="1950208"/>
            <a:ext cx="13400046" cy="114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5"/>
              </a:lnSpc>
            </a:pPr>
            <a:r>
              <a:rPr lang="en-US" sz="8105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OTHER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8257" y="3671511"/>
            <a:ext cx="3600212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 Customers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6990" y="4322960"/>
            <a:ext cx="4421246" cy="299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Long-Term Vision</a:t>
            </a: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“</a:t>
            </a: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StratGen becomes the standard AI assistant for tactical preparation.”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Used before matches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Integrated into training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Data-driven coaching decisions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41128" y="3671511"/>
            <a:ext cx="3068959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Scalability &amp; Vision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4640770" y="5905796"/>
            <a:ext cx="3012085" cy="6024170"/>
            <a:chOff x="0" y="0"/>
            <a:chExt cx="3331210" cy="6662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-5400000">
            <a:off x="14640770" y="2893711"/>
            <a:ext cx="3012085" cy="6024170"/>
            <a:chOff x="0" y="0"/>
            <a:chExt cx="3331210" cy="6662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643611" y="2097252"/>
            <a:ext cx="1615689" cy="1001727"/>
          </a:xfrm>
          <a:custGeom>
            <a:avLst/>
            <a:gdLst/>
            <a:ahLst/>
            <a:cxnLst/>
            <a:rect r="r" b="b" t="t" l="l"/>
            <a:pathLst>
              <a:path h="1001727" w="1615689">
                <a:moveTo>
                  <a:pt x="0" y="0"/>
                </a:moveTo>
                <a:lnTo>
                  <a:pt x="1615689" y="0"/>
                </a:lnTo>
                <a:lnTo>
                  <a:pt x="1615689" y="1001727"/>
                </a:lnTo>
                <a:lnTo>
                  <a:pt x="0" y="1001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3103"/>
            <a:ext cx="243939" cy="2439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61678" y="619159"/>
            <a:ext cx="3446410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LOOP</a:t>
            </a:r>
          </a:p>
        </p:txBody>
      </p:sp>
      <p:sp>
        <p:nvSpPr>
          <p:cNvPr name="AutoShape 6" id="6"/>
          <p:cNvSpPr/>
          <p:nvPr/>
        </p:nvSpPr>
        <p:spPr>
          <a:xfrm>
            <a:off x="580431" y="8792032"/>
            <a:ext cx="1712713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096636" y="9020581"/>
            <a:ext cx="4064035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STATGEN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06782" y="9020581"/>
            <a:ext cx="1406261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30761" y="9020581"/>
            <a:ext cx="1406261" cy="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77938" y="4483071"/>
            <a:ext cx="12301431" cy="140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6"/>
              </a:lnSpc>
            </a:pPr>
            <a:r>
              <a:rPr lang="en-US" b="true" sz="9796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5396224" y="2693394"/>
            <a:ext cx="914299" cy="1828597"/>
            <a:chOff x="0" y="0"/>
            <a:chExt cx="3331210" cy="6662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F8F8F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-5400000">
            <a:off x="15396224" y="1779095"/>
            <a:ext cx="914299" cy="1828597"/>
            <a:chOff x="0" y="0"/>
            <a:chExt cx="3331210" cy="6662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31210" cy="6662420"/>
            </a:xfrm>
            <a:custGeom>
              <a:avLst/>
              <a:gdLst/>
              <a:ahLst/>
              <a:cxnLst/>
              <a:rect r="r" b="b" t="t" l="l"/>
              <a:pathLst>
                <a:path h="6662420" w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cubicBezTo>
                    <a:pt x="3331210" y="5171440"/>
                    <a:pt x="1840230" y="6662420"/>
                    <a:pt x="0" y="6662420"/>
                  </a:cubicBezTo>
                  <a:lnTo>
                    <a:pt x="0" y="3331210"/>
                  </a:lnTo>
                  <a:close/>
                </a:path>
              </a:pathLst>
            </a:custGeom>
            <a:solidFill>
              <a:srgbClr val="0038DF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841565" y="6551949"/>
            <a:ext cx="1491976" cy="925025"/>
          </a:xfrm>
          <a:custGeom>
            <a:avLst/>
            <a:gdLst/>
            <a:ahLst/>
            <a:cxnLst/>
            <a:rect r="r" b="b" t="t" l="l"/>
            <a:pathLst>
              <a:path h="925025" w="1491976">
                <a:moveTo>
                  <a:pt x="0" y="0"/>
                </a:moveTo>
                <a:lnTo>
                  <a:pt x="1491977" y="0"/>
                </a:lnTo>
                <a:lnTo>
                  <a:pt x="1491977" y="925025"/>
                </a:lnTo>
                <a:lnTo>
                  <a:pt x="0" y="925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7750" y="2290053"/>
            <a:ext cx="1625731" cy="1625731"/>
          </a:xfrm>
          <a:custGeom>
            <a:avLst/>
            <a:gdLst/>
            <a:ahLst/>
            <a:cxnLst/>
            <a:rect r="r" b="b" t="t" l="l"/>
            <a:pathLst>
              <a:path h="1625731" w="1625731">
                <a:moveTo>
                  <a:pt x="0" y="0"/>
                </a:moveTo>
                <a:lnTo>
                  <a:pt x="1625731" y="0"/>
                </a:lnTo>
                <a:lnTo>
                  <a:pt x="1625731" y="1625730"/>
                </a:lnTo>
                <a:lnTo>
                  <a:pt x="0" y="1625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7540144" y="5476221"/>
            <a:ext cx="2158903" cy="2510352"/>
          </a:xfrm>
          <a:custGeom>
            <a:avLst/>
            <a:gdLst/>
            <a:ahLst/>
            <a:cxnLst/>
            <a:rect r="r" b="b" t="t" l="l"/>
            <a:pathLst>
              <a:path h="2510352" w="2158903">
                <a:moveTo>
                  <a:pt x="2158903" y="0"/>
                </a:moveTo>
                <a:lnTo>
                  <a:pt x="0" y="0"/>
                </a:lnTo>
                <a:lnTo>
                  <a:pt x="0" y="2510353"/>
                </a:lnTo>
                <a:lnTo>
                  <a:pt x="2158903" y="2510353"/>
                </a:lnTo>
                <a:lnTo>
                  <a:pt x="21589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DAHA5w6weGU</dc:identifier>
  <dcterms:modified xsi:type="dcterms:W3CDTF">2011-08-01T06:04:30Z</dcterms:modified>
  <cp:revision>1</cp:revision>
  <dc:title>LOOP</dc:title>
</cp:coreProperties>
</file>